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64040" y="3246120"/>
            <a:ext cx="1503184" cy="449938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64040" y="3246120"/>
            <a:ext cx="674919" cy="1189742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64040" y="3246120"/>
            <a:ext cx="-548705" cy="1232611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64040" y="3246120"/>
            <a:ext cx="-1450905" cy="553433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040" y="3246120"/>
            <a:ext cx="-1503184" cy="-449938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64040" y="3246120"/>
            <a:ext cx="-674919" cy="-1189742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64040" y="3246120"/>
            <a:ext cx="548705" cy="-1232611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64040" y="3246120"/>
            <a:ext cx="1450905" cy="-553433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84928" y="3613762"/>
            <a:ext cx="164592" cy="16459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1" name="Shape 9"/>
          <p:cNvSpPr/>
          <p:nvPr/>
        </p:nvSpPr>
        <p:spPr>
          <a:xfrm>
            <a:off x="10079523" y="4376426"/>
            <a:ext cx="118872" cy="11887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2" name="Shape 10"/>
          <p:cNvSpPr/>
          <p:nvPr/>
        </p:nvSpPr>
        <p:spPr>
          <a:xfrm>
            <a:off x="8855899" y="4419295"/>
            <a:ext cx="118872" cy="11887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3" name="Shape 11"/>
          <p:cNvSpPr/>
          <p:nvPr/>
        </p:nvSpPr>
        <p:spPr>
          <a:xfrm>
            <a:off x="7930839" y="3717257"/>
            <a:ext cx="164592" cy="16459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4" name="Shape 12"/>
          <p:cNvSpPr/>
          <p:nvPr/>
        </p:nvSpPr>
        <p:spPr>
          <a:xfrm>
            <a:off x="7901420" y="2736746"/>
            <a:ext cx="118872" cy="11887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5" name="Shape 13"/>
          <p:cNvSpPr/>
          <p:nvPr/>
        </p:nvSpPr>
        <p:spPr>
          <a:xfrm>
            <a:off x="8729685" y="1996942"/>
            <a:ext cx="118872" cy="11887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Shape 14"/>
          <p:cNvSpPr/>
          <p:nvPr/>
        </p:nvSpPr>
        <p:spPr>
          <a:xfrm>
            <a:off x="9930449" y="1931213"/>
            <a:ext cx="164592" cy="16459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55509" y="2633251"/>
            <a:ext cx="118872" cy="11887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8" name="Shape 16"/>
          <p:cNvSpPr/>
          <p:nvPr/>
        </p:nvSpPr>
        <p:spPr>
          <a:xfrm>
            <a:off x="9317736" y="3099816"/>
            <a:ext cx="292608" cy="29260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9" name="Shape 17"/>
          <p:cNvSpPr/>
          <p:nvPr/>
        </p:nvSpPr>
        <p:spPr>
          <a:xfrm>
            <a:off x="13308088" y="2262884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0" name="Shape 18"/>
          <p:cNvSpPr/>
          <p:nvPr/>
        </p:nvSpPr>
        <p:spPr>
          <a:xfrm>
            <a:off x="12479823" y="2521816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56199" y="2536820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2" name="Shape 20"/>
          <p:cNvSpPr/>
          <p:nvPr/>
        </p:nvSpPr>
        <p:spPr>
          <a:xfrm>
            <a:off x="10353999" y="2299108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3" name="Shape 21"/>
          <p:cNvSpPr/>
          <p:nvPr/>
        </p:nvSpPr>
        <p:spPr>
          <a:xfrm>
            <a:off x="10301720" y="1947928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4" name="Shape 22"/>
          <p:cNvSpPr/>
          <p:nvPr/>
        </p:nvSpPr>
        <p:spPr>
          <a:xfrm>
            <a:off x="11129985" y="1688996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5" name="Shape 23"/>
          <p:cNvSpPr/>
          <p:nvPr/>
        </p:nvSpPr>
        <p:spPr>
          <a:xfrm>
            <a:off x="12353609" y="1673992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6" name="Shape 24"/>
          <p:cNvSpPr/>
          <p:nvPr/>
        </p:nvSpPr>
        <p:spPr>
          <a:xfrm>
            <a:off x="13255809" y="1911704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822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COLONY AI  ·  v24.0.0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132588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Cognition Runtime</a:t>
            </a:r>
            <a:endParaRPr lang="en-US" sz="5400" dirty="0"/>
          </a:p>
        </p:txBody>
      </p:sp>
      <p:sp>
        <p:nvSpPr>
          <p:cNvPr id="29" name="Text 27"/>
          <p:cNvSpPr/>
          <p:nvPr/>
        </p:nvSpPr>
        <p:spPr>
          <a:xfrm>
            <a:off x="640080" y="35204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C4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 as a Service — </a:t>
            </a:r>
            <a:pPr indent="0" marL="0">
              <a:buNone/>
            </a:pPr>
            <a:r>
              <a:rPr lang="en-US" sz="180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students and small teams: AI mentors that remember them and prove what they did.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40080" y="434340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containers running right now  ·  467K memory vectors  ·  Society Protocol with receipts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640080" y="5623560"/>
            <a:ext cx="6949440" cy="0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80644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Valentin Kalinin, founder   ·   valentin@mind.glass   ·   github.com/tdesc/colony-ai-deck   ·   Saint Petersburg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4892040"/>
            <a:ext cx="3931920" cy="329184"/>
          </a:xfrm>
          <a:prstGeom prst="roundRect">
            <a:avLst>
              <a:gd name="adj" fmla="val 50000"/>
            </a:avLst>
          </a:prstGeom>
          <a:solidFill>
            <a:srgbClr val="0D1B24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489204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· LIVE FLEET · 2026-10-21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Tuesday. The mentor asks her name again.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89888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 trained with it all Monday. At midnight the session died — and with it every memory of her. That is every AI agent in 2026.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383280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423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memory.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session starts from zero. No long-term recall, no continuity, no relationship with the user.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89120" y="2240280"/>
            <a:ext cx="3383280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2423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governance.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389120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admission gates, no rules of engagement, no separation of powers between agents that act.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229600" y="2240280"/>
            <a:ext cx="3383280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2423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receipts.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8229600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can't be verified. “Trust me” does not scale to fleets — or to customers, or to investors.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0" y="4983480"/>
            <a:ext cx="12188952" cy="1143000"/>
          </a:xfrm>
          <a:prstGeom prst="rect">
            <a:avLst/>
          </a:prstGeom>
          <a:solidFill>
            <a:srgbClr val="E7F1F1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98348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missing layer is not a smarter model. </a:t>
            </a:r>
            <a:pPr indent="0" marL="0">
              <a:buNone/>
            </a:pPr>
            <a:r>
              <a:rPr lang="en-US" sz="1650" dirty="0">
                <a:solidFill>
                  <a:srgbClr val="17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runtime that gives agents memory, government, and a verifiable record.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Colony: one runtime — memory, government, receipts.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15184" cy="1481328"/>
          </a:xfrm>
          <a:prstGeom prst="rect">
            <a:avLst/>
          </a:prstGeom>
          <a:solidFill>
            <a:srgbClr val="F4F8F8"/>
          </a:solidFill>
          <a:ln w="15875">
            <a:solidFill>
              <a:srgbClr val="0B5D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810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Assistants &amp; Mentors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94944" y="21762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ready &amp; observable assistants; mentor fleet on top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63824" y="2212848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93008" y="1691640"/>
            <a:ext cx="2615184" cy="1481328"/>
          </a:xfrm>
          <a:prstGeom prst="rect">
            <a:avLst/>
          </a:prstGeom>
          <a:solidFill>
            <a:srgbClr val="E7F1F1"/>
          </a:solidFill>
          <a:ln w="15875">
            <a:solidFill>
              <a:srgbClr val="0B5D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39312" y="1810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Society Protocol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639312" y="21762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Steward-relayed messaging; receipts on every crossing; trust thresholds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08192" y="2212848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37376" y="1691640"/>
            <a:ext cx="2615184" cy="1481328"/>
          </a:xfrm>
          <a:prstGeom prst="rect">
            <a:avLst/>
          </a:prstGeom>
          <a:solidFill>
            <a:srgbClr val="F4F8F8"/>
          </a:solidFill>
          <a:ln w="15875">
            <a:solidFill>
              <a:srgbClr val="0B5D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1810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governance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83680" y="21762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queues, admission gates, canary-verified autonomy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052560" y="2212848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381744" y="1691640"/>
            <a:ext cx="2615184" cy="1481328"/>
          </a:xfrm>
          <a:prstGeom prst="rect">
            <a:avLst/>
          </a:prstGeom>
          <a:solidFill>
            <a:srgbClr val="F4F8F8"/>
          </a:solidFill>
          <a:ln w="15875">
            <a:solidFill>
              <a:srgbClr val="0B5D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28048" y="1810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 fleet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528048" y="21762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· hippocampus · modality · SWE · voice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401568"/>
            <a:ext cx="11091672" cy="713232"/>
          </a:xfrm>
          <a:prstGeom prst="rect">
            <a:avLst/>
          </a:prstGeom>
          <a:solidFill>
            <a:srgbClr val="083F45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401568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 memory — 467K vectors </a:t>
            </a:r>
            <a:pPr indent="0" marL="0">
              <a:buNone/>
            </a:pPr>
            <a:r>
              <a:rPr lang="en-US" sz="135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     Langfuse traces      ·      Temporal workflows      ·      OpenTelemetry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48640" y="44348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Receipt-based honesty.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message, arrival, and crossing carries a verifiable receipt — fabrication is a protocol violation, not a bug.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389120" y="44348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Government, not vibes.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Steward relays all cross-agent traffic; privileged actions need accrued trust; sponsor approval gates the rest.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229600" y="44348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that persists.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Causal hippocampus records episodes; Qdrant recall brings them back in the next session.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4864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as running today — v24.0.0, 44 containers live.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LAYER ON THE RUNTIME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 as a Service.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mentors.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mentor remembers its students across sessions — vector recall of goals, progress, and history, not chat logs.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2734056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sessions.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Goal-setting, homework, follow-up. Voice-ready: 170 ms turn-taking on the local speech bench.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3867912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by construction.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session closes with a receipt: what was covered, what was decided, what comes next.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48640" y="5001768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business on the runtime.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Subscription mentors running on governed agent infrastructure — memory, governance and receipts included.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269480" y="1554480"/>
            <a:ext cx="4370832" cy="1965960"/>
          </a:xfrm>
          <a:prstGeom prst="rect">
            <a:avLst/>
          </a:prstGeom>
          <a:solidFill>
            <a:srgbClr val="E7F1F1"/>
          </a:solidFill>
          <a:ln w="15875">
            <a:solidFill>
              <a:srgbClr val="0B5D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43800" y="17830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MENTORS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3774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Specialized mentors — live in the fleet today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43800" y="2907792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43800" y="290779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· GOVERNANCE · RECEIPTS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269480" y="3886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SPECIALIZATIONS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269480" y="4251960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69480" y="425196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 &amp; body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555480" y="4251960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55480" y="425196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Aesthetics &amp; UX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269480" y="4782312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69480" y="4782312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555480" y="4782312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55480" y="4782312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Storytelling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269480" y="5312664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69480" y="5312664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copilot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555480" y="5312664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55480" y="5312664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269480" y="59436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mentor is a registered assistant in the live fleet — running today, not mocked up.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Dota 2 Copilot: realtime AI inside a live game.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Realtime, not chat.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Reads match state and advises while the game runs — decisions in seconds, on a ticking clock.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2779776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runtime underneath.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Per-player match memory, governed tool use, traceable decisions — Colony in a hostile, realtime domain.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3913632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paid lane from day one.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Premium tier served over a dedicated MCP server — subscription access to the copilot.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48640" y="5047488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Proof the runtime survives realtime, high-stakes load. If it holds here, it holds anywhere.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040880" y="1554480"/>
            <a:ext cx="4599432" cy="4343400"/>
          </a:xfrm>
          <a:prstGeom prst="rect">
            <a:avLst/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0" y="1783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IN THE FLEET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21031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services, running now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315200" y="2788920"/>
            <a:ext cx="4023360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289864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3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dota-copilot-portal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0" y="32461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+ control + backend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315200" y="3840480"/>
            <a:ext cx="4023360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0" y="395020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3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dota-premium-mcp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access over MCP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315200" y="5257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names from live docker ps — 2026-10-21.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NOT PROMISES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fleet is running right now.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15184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2615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548640" y="3154680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containers live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48640" y="3493008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ps, without stopping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93008" y="1828800"/>
            <a:ext cx="2615184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93008" y="2011680"/>
            <a:ext cx="2615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467K</a:t>
            </a:r>
            <a:endParaRPr lang="en-US" sz="5800" dirty="0"/>
          </a:p>
        </p:txBody>
      </p:sp>
      <p:sp>
        <p:nvSpPr>
          <p:cNvPr id="10" name="Text 8"/>
          <p:cNvSpPr/>
          <p:nvPr/>
        </p:nvSpPr>
        <p:spPr>
          <a:xfrm>
            <a:off x="3493008" y="3154680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vectors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493008" y="3493008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 — plus 161K code chunks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37376" y="1828800"/>
            <a:ext cx="2615184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37376" y="2011680"/>
            <a:ext cx="2615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5800" dirty="0"/>
          </a:p>
        </p:txBody>
      </p:sp>
      <p:sp>
        <p:nvSpPr>
          <p:cNvPr id="14" name="Text 12"/>
          <p:cNvSpPr/>
          <p:nvPr/>
        </p:nvSpPr>
        <p:spPr>
          <a:xfrm>
            <a:off x="6437376" y="3154680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assistants ready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37376" y="3493008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lawful, kernel-ready, observable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381744" y="1828800"/>
            <a:ext cx="2615184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81744" y="2011680"/>
            <a:ext cx="2615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go-mentor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381744" y="3154680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coding mentor, live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9381744" y="3493008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go-mentor.mind.glass — goals → verified outcomes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343400"/>
            <a:ext cx="12188952" cy="1417320"/>
          </a:xfrm>
          <a:prstGeom prst="rect">
            <a:avLst/>
          </a:prstGeom>
          <a:solidFill>
            <a:srgbClr val="E7F1F1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526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 on duty   </a:t>
            </a:r>
            <a:pPr indent="0" marL="0">
              <a:buNone/>
            </a:pPr>
            <a:r>
              <a:rPr lang="en-US" sz="1300" dirty="0">
                <a:solidFill>
                  <a:srgbClr val="17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(arc · swe · colony · biology) · hippocampus · modality (vision · audio · motor · text) · research · court · admission · SWE · voice · metabolic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51663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  </a:t>
            </a:r>
            <a:pPr indent="0" marL="0">
              <a:buNone/>
            </a:pPr>
            <a:r>
              <a:rPr lang="en-US" sz="1300" dirty="0">
                <a:solidFill>
                  <a:srgbClr val="17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Langfuse traces · Temporal workflows · OpenTelemetry · Centrifugo realtime · local MLX model gateway · LLM-as-judge evals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61722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live docker ps and readiness checks on the founder's machine, 2026-10-21. Numbers are observed, not aspirational.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CLOUD CREDITS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 the fleet from one box to a cloud.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81912"/>
            <a:ext cx="11091672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554480" y="170992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memory &amp; traces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54480" y="210312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 and ClickHouse in the cloud — vector memory and Langfuse traces that outlive any single machine.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715768"/>
            <a:ext cx="11091672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871216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554480" y="284378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nodes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54480" y="3236976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mentors and model work beyond the local MLX bench — realtime speech needs real GPUs.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849624"/>
            <a:ext cx="11091672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005072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1554480" y="397764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Mentor API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54480" y="437083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Mentor as a Service multi-tenant: pilot customers, billing, SLAs. The monetizing step.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91672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138928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1554480" y="511149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Always-on fleet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554480" y="550468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Multi-region Temporal and 24/7 uptime — live mentor sessions that never sleep.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 go to infrastructure, not headcount: memory, GPUs, uptime.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working prototype to hosted runtime.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3063240"/>
            <a:ext cx="10332720" cy="0"/>
          </a:xfrm>
          <a:prstGeom prst="line">
            <a:avLst/>
          </a:prstGeom>
          <a:noFill/>
          <a:ln w="25400">
            <a:solidFill>
              <a:srgbClr val="C9DA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944368"/>
            <a:ext cx="237744" cy="23774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68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Self-funded working prototype — 44-container fleet, memory, receipts, Society Protocol.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657600" y="2944368"/>
            <a:ext cx="237744" cy="237744"/>
          </a:xfrm>
          <a:prstGeom prst="ellipse">
            <a:avLst/>
          </a:prstGeom>
          <a:solidFill>
            <a:srgbClr val="0B5D66"/>
          </a:solidFill>
          <a:ln/>
        </p:spPr>
      </p:sp>
      <p:sp>
        <p:nvSpPr>
          <p:cNvPr id="9" name="Text 7"/>
          <p:cNvSpPr/>
          <p:nvPr/>
        </p:nvSpPr>
        <p:spPr>
          <a:xfrm>
            <a:off x="3703320" y="2468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 MO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703320" y="338328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 as a Service pilot — public API, first external students, paid sessions.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46520" y="2944368"/>
            <a:ext cx="237744" cy="237744"/>
          </a:xfrm>
          <a:prstGeom prst="ellipse">
            <a:avLst/>
          </a:prstGeom>
          <a:solidFill>
            <a:srgbClr val="0B5D66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468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 MO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338328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fleet — managed memory &amp; traces, GPU voice mentors, 24/7 uptime.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235440" y="2944368"/>
            <a:ext cx="237744" cy="237744"/>
          </a:xfrm>
          <a:prstGeom prst="ellipse">
            <a:avLst/>
          </a:prstGeom>
          <a:solidFill>
            <a:srgbClr val="0B5D66"/>
          </a:solidFill>
          <a:ln/>
        </p:spPr>
      </p:sp>
      <p:sp>
        <p:nvSpPr>
          <p:cNvPr id="15" name="Text 13"/>
          <p:cNvSpPr/>
          <p:nvPr/>
        </p:nvSpPr>
        <p:spPr>
          <a:xfrm>
            <a:off x="9281160" y="2468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 MO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281160" y="338328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Governed copilots beyond gaming — agents you can audit, as a category.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0" y="5257800"/>
            <a:ext cx="12188952" cy="914400"/>
          </a:xfrm>
          <a:prstGeom prst="rect">
            <a:avLst/>
          </a:prstGeom>
          <a:solidFill>
            <a:srgbClr val="E7F1F1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2578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baseline: </a:t>
            </a:r>
            <a:pPr indent="0" marL="0">
              <a:buNone/>
            </a:pPr>
            <a:r>
              <a:rPr lang="en-US" sz="1400" dirty="0">
                <a:solidFill>
                  <a:srgbClr val="17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users and no revenue yet. This deck sells a working prototype with live infrastructure — the roadmap is a plan, not a projection.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5120640"/>
            <a:ext cx="1083323" cy="503049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5120640"/>
            <a:ext cx="29129" cy="1048982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32720" y="5120640"/>
            <a:ext cx="-1054194" cy="545933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0" y="5120640"/>
            <a:ext cx="-1083323" cy="-503049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32720" y="5120640"/>
            <a:ext cx="-29129" cy="-1048982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332720" y="5120640"/>
            <a:ext cx="1054194" cy="-545933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347463" y="5555109"/>
            <a:ext cx="137160" cy="137160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9" name="Shape 7"/>
          <p:cNvSpPr/>
          <p:nvPr/>
        </p:nvSpPr>
        <p:spPr>
          <a:xfrm>
            <a:off x="10311557" y="6119330"/>
            <a:ext cx="100584" cy="100584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0" name="Shape 8"/>
          <p:cNvSpPr/>
          <p:nvPr/>
        </p:nvSpPr>
        <p:spPr>
          <a:xfrm>
            <a:off x="9209946" y="5597993"/>
            <a:ext cx="137160" cy="13716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1" name="Shape 9"/>
          <p:cNvSpPr/>
          <p:nvPr/>
        </p:nvSpPr>
        <p:spPr>
          <a:xfrm>
            <a:off x="9199105" y="4567299"/>
            <a:ext cx="100584" cy="100584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35011" y="4003078"/>
            <a:ext cx="137160" cy="137160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36622" y="4524415"/>
            <a:ext cx="100584" cy="100584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22992" y="5010912"/>
            <a:ext cx="219456" cy="219456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822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CONTACT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137160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Valentin Kalinin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40080" y="23317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— built the whole stack solo: cognition runtime, Society Protocol, mentor fleet, Dota 2 Copilot.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0080" y="3429000"/>
            <a:ext cx="7863840" cy="0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657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valentin@mind.glass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0080" y="42245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github.com/tdesc/colony-ai-deck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0080" y="479145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mind.glass  ·  Saint Petersburg, Russia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40080" y="5806440"/>
            <a:ext cx="5852160" cy="329184"/>
          </a:xfrm>
          <a:prstGeom prst="roundRect">
            <a:avLst>
              <a:gd name="adj" fmla="val 50000"/>
            </a:avLst>
          </a:prstGeom>
          <a:solidFill>
            <a:srgbClr val="0D1B24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80644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· SELF-FUNDED WORKING PROTOTYPE · OCT 2026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Colony AI — Mentor as a Service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Colony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Colony AI — Multi-Agent Cognition Runtime</dc:title>
  <dc:subject>PptxGenJS Presentation</dc:subject>
  <dc:creator>Valentin Kalinin</dc:creator>
  <cp:lastModifiedBy>Valentin Kalinin</cp:lastModifiedBy>
  <cp:revision>1</cp:revision>
  <dcterms:created xsi:type="dcterms:W3CDTF">2026-10-22T16:56:28Z</dcterms:created>
  <dcterms:modified xsi:type="dcterms:W3CDTF">2026-10-22T16:56:28Z</dcterms:modified>
</cp:coreProperties>
</file>