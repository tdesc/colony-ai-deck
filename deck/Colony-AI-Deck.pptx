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3246120"/>
            <a:ext cx="1503184" cy="449938"/>
          </a:xfrm>
          <a:prstGeom prst="line">
            <a:avLst/>
          </a:prstGeom>
          <a:noFill/>
          <a:ln w="12700">
            <a:solidFill>
              <a:srgbClr val="2741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3246120"/>
            <a:ext cx="674919" cy="1189742"/>
          </a:xfrm>
          <a:prstGeom prst="line">
            <a:avLst/>
          </a:prstGeom>
          <a:noFill/>
          <a:ln w="12700">
            <a:solidFill>
              <a:srgbClr val="2741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64040" y="3246120"/>
            <a:ext cx="-548705" cy="1232611"/>
          </a:xfrm>
          <a:prstGeom prst="line">
            <a:avLst/>
          </a:prstGeom>
          <a:noFill/>
          <a:ln w="12700">
            <a:solidFill>
              <a:srgbClr val="2741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4040" y="3246120"/>
            <a:ext cx="-1450905" cy="553433"/>
          </a:xfrm>
          <a:prstGeom prst="line">
            <a:avLst/>
          </a:prstGeom>
          <a:noFill/>
          <a:ln w="12700">
            <a:solidFill>
              <a:srgbClr val="2741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64040" y="3246120"/>
            <a:ext cx="-1503184" cy="-449938"/>
          </a:xfrm>
          <a:prstGeom prst="line">
            <a:avLst/>
          </a:prstGeom>
          <a:noFill/>
          <a:ln w="12700">
            <a:solidFill>
              <a:srgbClr val="2741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64040" y="3246120"/>
            <a:ext cx="-674919" cy="-1189742"/>
          </a:xfrm>
          <a:prstGeom prst="line">
            <a:avLst/>
          </a:prstGeom>
          <a:noFill/>
          <a:ln w="12700">
            <a:solidFill>
              <a:srgbClr val="2741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64040" y="3246120"/>
            <a:ext cx="548705" cy="-1232611"/>
          </a:xfrm>
          <a:prstGeom prst="line">
            <a:avLst/>
          </a:prstGeom>
          <a:noFill/>
          <a:ln w="12700">
            <a:solidFill>
              <a:srgbClr val="2741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64040" y="3246120"/>
            <a:ext cx="1450905" cy="-553433"/>
          </a:xfrm>
          <a:prstGeom prst="line">
            <a:avLst/>
          </a:prstGeom>
          <a:noFill/>
          <a:ln w="12700">
            <a:solidFill>
              <a:srgbClr val="2741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4928" y="3613762"/>
            <a:ext cx="164592" cy="164592"/>
          </a:xfrm>
          <a:prstGeom prst="ellipse">
            <a:avLst/>
          </a:prstGeom>
          <a:solidFill>
            <a:srgbClr val="7FC4C9"/>
          </a:solidFill>
          <a:ln/>
        </p:spPr>
      </p:sp>
      <p:sp>
        <p:nvSpPr>
          <p:cNvPr id="11" name="Shape 9"/>
          <p:cNvSpPr/>
          <p:nvPr/>
        </p:nvSpPr>
        <p:spPr>
          <a:xfrm>
            <a:off x="10079523" y="4376426"/>
            <a:ext cx="118872" cy="118872"/>
          </a:xfrm>
          <a:prstGeom prst="ellipse">
            <a:avLst/>
          </a:prstGeom>
          <a:solidFill>
            <a:srgbClr val="7FC4C9"/>
          </a:solidFill>
          <a:ln/>
        </p:spPr>
      </p:sp>
      <p:sp>
        <p:nvSpPr>
          <p:cNvPr id="12" name="Shape 10"/>
          <p:cNvSpPr/>
          <p:nvPr/>
        </p:nvSpPr>
        <p:spPr>
          <a:xfrm>
            <a:off x="8855899" y="4419295"/>
            <a:ext cx="118872" cy="118872"/>
          </a:xfrm>
          <a:prstGeom prst="ellipse">
            <a:avLst/>
          </a:prstGeom>
          <a:solidFill>
            <a:srgbClr val="7FC4C9"/>
          </a:solidFill>
          <a:ln/>
        </p:spPr>
      </p:sp>
      <p:sp>
        <p:nvSpPr>
          <p:cNvPr id="13" name="Shape 11"/>
          <p:cNvSpPr/>
          <p:nvPr/>
        </p:nvSpPr>
        <p:spPr>
          <a:xfrm>
            <a:off x="7930839" y="3717257"/>
            <a:ext cx="164592" cy="164592"/>
          </a:xfrm>
          <a:prstGeom prst="ellipse">
            <a:avLst/>
          </a:prstGeom>
          <a:solidFill>
            <a:srgbClr val="7FC4C9"/>
          </a:solidFill>
          <a:ln/>
        </p:spPr>
      </p:sp>
      <p:sp>
        <p:nvSpPr>
          <p:cNvPr id="14" name="Shape 12"/>
          <p:cNvSpPr/>
          <p:nvPr/>
        </p:nvSpPr>
        <p:spPr>
          <a:xfrm>
            <a:off x="7901420" y="2736746"/>
            <a:ext cx="118872" cy="118872"/>
          </a:xfrm>
          <a:prstGeom prst="ellipse">
            <a:avLst/>
          </a:prstGeom>
          <a:solidFill>
            <a:srgbClr val="7FC4C9"/>
          </a:solidFill>
          <a:ln/>
        </p:spPr>
      </p:sp>
      <p:sp>
        <p:nvSpPr>
          <p:cNvPr id="15" name="Shape 13"/>
          <p:cNvSpPr/>
          <p:nvPr/>
        </p:nvSpPr>
        <p:spPr>
          <a:xfrm>
            <a:off x="8729685" y="1996942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Shape 14"/>
          <p:cNvSpPr/>
          <p:nvPr/>
        </p:nvSpPr>
        <p:spPr>
          <a:xfrm>
            <a:off x="9930449" y="1931213"/>
            <a:ext cx="164592" cy="164592"/>
          </a:xfrm>
          <a:prstGeom prst="ellipse">
            <a:avLst/>
          </a:prstGeom>
          <a:solidFill>
            <a:srgbClr val="7FC4C9"/>
          </a:solidFill>
          <a:ln/>
        </p:spPr>
      </p:sp>
      <p:sp>
        <p:nvSpPr>
          <p:cNvPr id="17" name="Shape 15"/>
          <p:cNvSpPr/>
          <p:nvPr/>
        </p:nvSpPr>
        <p:spPr>
          <a:xfrm>
            <a:off x="10855509" y="2633251"/>
            <a:ext cx="118872" cy="118872"/>
          </a:xfrm>
          <a:prstGeom prst="ellipse">
            <a:avLst/>
          </a:prstGeom>
          <a:solidFill>
            <a:srgbClr val="7FC4C9"/>
          </a:solidFill>
          <a:ln/>
        </p:spPr>
      </p:sp>
      <p:sp>
        <p:nvSpPr>
          <p:cNvPr id="18" name="Shape 16"/>
          <p:cNvSpPr/>
          <p:nvPr/>
        </p:nvSpPr>
        <p:spPr>
          <a:xfrm>
            <a:off x="9317736" y="3099816"/>
            <a:ext cx="292608" cy="2926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Shape 17"/>
          <p:cNvSpPr/>
          <p:nvPr/>
        </p:nvSpPr>
        <p:spPr>
          <a:xfrm>
            <a:off x="13308088" y="2262884"/>
            <a:ext cx="73152" cy="73152"/>
          </a:xfrm>
          <a:prstGeom prst="ellipse">
            <a:avLst/>
          </a:prstGeom>
          <a:solidFill>
            <a:srgbClr val="3A5563"/>
          </a:solidFill>
          <a:ln/>
        </p:spPr>
      </p:sp>
      <p:sp>
        <p:nvSpPr>
          <p:cNvPr id="20" name="Shape 18"/>
          <p:cNvSpPr/>
          <p:nvPr/>
        </p:nvSpPr>
        <p:spPr>
          <a:xfrm>
            <a:off x="12479823" y="2521816"/>
            <a:ext cx="73152" cy="73152"/>
          </a:xfrm>
          <a:prstGeom prst="ellipse">
            <a:avLst/>
          </a:prstGeom>
          <a:solidFill>
            <a:srgbClr val="3A5563"/>
          </a:solidFill>
          <a:ln/>
        </p:spPr>
      </p:sp>
      <p:sp>
        <p:nvSpPr>
          <p:cNvPr id="21" name="Shape 19"/>
          <p:cNvSpPr/>
          <p:nvPr/>
        </p:nvSpPr>
        <p:spPr>
          <a:xfrm>
            <a:off x="11256199" y="2536820"/>
            <a:ext cx="73152" cy="73152"/>
          </a:xfrm>
          <a:prstGeom prst="ellipse">
            <a:avLst/>
          </a:prstGeom>
          <a:solidFill>
            <a:srgbClr val="3A5563"/>
          </a:solidFill>
          <a:ln/>
        </p:spPr>
      </p:sp>
      <p:sp>
        <p:nvSpPr>
          <p:cNvPr id="22" name="Shape 20"/>
          <p:cNvSpPr/>
          <p:nvPr/>
        </p:nvSpPr>
        <p:spPr>
          <a:xfrm>
            <a:off x="10353999" y="2299108"/>
            <a:ext cx="73152" cy="73152"/>
          </a:xfrm>
          <a:prstGeom prst="ellipse">
            <a:avLst/>
          </a:prstGeom>
          <a:solidFill>
            <a:srgbClr val="3A5563"/>
          </a:solidFill>
          <a:ln/>
        </p:spPr>
      </p:sp>
      <p:sp>
        <p:nvSpPr>
          <p:cNvPr id="23" name="Shape 21"/>
          <p:cNvSpPr/>
          <p:nvPr/>
        </p:nvSpPr>
        <p:spPr>
          <a:xfrm>
            <a:off x="10301720" y="1947928"/>
            <a:ext cx="73152" cy="73152"/>
          </a:xfrm>
          <a:prstGeom prst="ellipse">
            <a:avLst/>
          </a:prstGeom>
          <a:solidFill>
            <a:srgbClr val="3A5563"/>
          </a:solidFill>
          <a:ln/>
        </p:spPr>
      </p:sp>
      <p:sp>
        <p:nvSpPr>
          <p:cNvPr id="24" name="Shape 22"/>
          <p:cNvSpPr/>
          <p:nvPr/>
        </p:nvSpPr>
        <p:spPr>
          <a:xfrm>
            <a:off x="11129985" y="1688996"/>
            <a:ext cx="73152" cy="73152"/>
          </a:xfrm>
          <a:prstGeom prst="ellipse">
            <a:avLst/>
          </a:prstGeom>
          <a:solidFill>
            <a:srgbClr val="3A5563"/>
          </a:solidFill>
          <a:ln/>
        </p:spPr>
      </p:sp>
      <p:sp>
        <p:nvSpPr>
          <p:cNvPr id="25" name="Shape 23"/>
          <p:cNvSpPr/>
          <p:nvPr/>
        </p:nvSpPr>
        <p:spPr>
          <a:xfrm>
            <a:off x="12353609" y="1673992"/>
            <a:ext cx="73152" cy="73152"/>
          </a:xfrm>
          <a:prstGeom prst="ellipse">
            <a:avLst/>
          </a:prstGeom>
          <a:solidFill>
            <a:srgbClr val="3A5563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5809" y="1911704"/>
            <a:ext cx="73152" cy="73152"/>
          </a:xfrm>
          <a:prstGeom prst="ellipse">
            <a:avLst/>
          </a:prstGeom>
          <a:solidFill>
            <a:srgbClr val="3A5563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COLONY AI  ·  MENTOR AS A SERVICE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1234440"/>
            <a:ext cx="7680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Tuesday.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mentor asks her name again.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640080" y="2852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6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trained with it all Monday. At midnight the session died — and with it every memory of her. That is every AI agent in 2026.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40080" y="36118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C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as a Service — </a:t>
            </a:r>
            <a:pPr indent="0" marL="0">
              <a:buNone/>
            </a:pPr>
            <a:r>
              <a:rPr lang="en-US" sz="1600" dirty="0">
                <a:solidFill>
                  <a:srgbClr val="C6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students and small teams: AI mentors that remember them and prove what they did.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080" y="4434840"/>
            <a:ext cx="7040880" cy="896112"/>
          </a:xfrm>
          <a:prstGeom prst="rect">
            <a:avLst/>
          </a:prstGeom>
          <a:solidFill>
            <a:srgbClr val="17242C"/>
          </a:solidFill>
          <a:ln w="12700">
            <a:solidFill>
              <a:srgbClr val="2741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526280"/>
            <a:ext cx="6629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C4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receipt · 2026-10-22 · job 3bff070c-794d-42da-86ce-ce7296399390
</a:t>
            </a:r>
            <a:pPr indent="0" marL="0">
              <a:buNone/>
            </a:pPr>
            <a:r>
              <a:rPr lang="en-US" sz="1150" dirty="0">
                <a:solidFill>
                  <a:srgbClr val="8F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assistant turn completed, LLM-judge verdict recorded — every claim in this deck is checkable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5943600"/>
            <a:ext cx="6949440" cy="0"/>
          </a:xfrm>
          <a:prstGeom prst="line">
            <a:avLst/>
          </a:prstGeom>
          <a:noFill/>
          <a:ln w="12700">
            <a:solidFill>
              <a:srgbClr val="27414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61081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Valentin Kalinin, founder   ·   valentin@mind.glass   ·   github.com/tdesc/colony-ai-deck   ·   Saint Petersburg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5532120"/>
            <a:ext cx="3931920" cy="329184"/>
          </a:xfrm>
          <a:prstGeom prst="roundRect">
            <a:avLst>
              <a:gd name="adj" fmla="val 50000"/>
            </a:avLst>
          </a:prstGeom>
          <a:solidFill>
            <a:srgbClr val="0D1B24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5321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· LIVE FLEET · 2026-10-21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agents wake up with no past and no rules.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spawn a hundred agents in 2026. Almost nobody can govern them — or trust what they claim.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383280" cy="0"/>
          </a:xfrm>
          <a:prstGeom prst="line">
            <a:avLst/>
          </a:prstGeom>
          <a:noFill/>
          <a:ln w="12700">
            <a:solidFill>
              <a:srgbClr val="D5DE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23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5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memory.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session starts from zero. No long-term recall, no continuity, no relationship with the user.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89120" y="2240280"/>
            <a:ext cx="3383280" cy="0"/>
          </a:xfrm>
          <a:prstGeom prst="line">
            <a:avLst/>
          </a:prstGeom>
          <a:noFill/>
          <a:ln w="12700">
            <a:solidFill>
              <a:srgbClr val="D5DE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2423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5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governance.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389120" y="30632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admission gates, no rules of engagement, no separation of powers between agents that act.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0" y="2240280"/>
            <a:ext cx="3383280" cy="0"/>
          </a:xfrm>
          <a:prstGeom prst="line">
            <a:avLst/>
          </a:prstGeom>
          <a:noFill/>
          <a:ln w="12700">
            <a:solidFill>
              <a:srgbClr val="D5DE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2423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5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receipts.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229600" y="30632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can't be verified. “Trust me” does not scale to fleets — or to customers, or to investors.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12188952" cy="1143000"/>
          </a:xfrm>
          <a:prstGeom prst="rect">
            <a:avLst/>
          </a:prstGeom>
          <a:solidFill>
            <a:srgbClr val="E7F1F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98348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8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missing layer is not a smarter model. </a:t>
            </a:r>
            <a:pPr indent="0" marL="0">
              <a:buNone/>
            </a:pPr>
            <a:r>
              <a:rPr lang="en-US" sz="1650" dirty="0">
                <a:solidFill>
                  <a:srgbClr val="17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runtime that gives agents memory, government, and a verifiable record.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Colony: one runtime — memory, government, receipts.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15184" cy="1481328"/>
          </a:xfrm>
          <a:prstGeom prst="rect">
            <a:avLst/>
          </a:prstGeom>
          <a:solidFill>
            <a:srgbClr val="F4F8F8"/>
          </a:solidFill>
          <a:ln w="15875">
            <a:solidFill>
              <a:srgbClr val="0B5D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8105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Assistants &amp; Mentors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94944" y="217627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ready &amp; observable assistants; mentor fleet on top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63824" y="221284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93008" y="1691640"/>
            <a:ext cx="2615184" cy="1481328"/>
          </a:xfrm>
          <a:prstGeom prst="rect">
            <a:avLst/>
          </a:prstGeom>
          <a:solidFill>
            <a:srgbClr val="E7F1F1"/>
          </a:solidFill>
          <a:ln w="15875">
            <a:solidFill>
              <a:srgbClr val="0B5D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9312" y="18105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Society Protocol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639312" y="217627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Steward-relayed messaging; receipts on every crossing; trust thresholds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08192" y="221284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37376" y="1691640"/>
            <a:ext cx="2615184" cy="1481328"/>
          </a:xfrm>
          <a:prstGeom prst="rect">
            <a:avLst/>
          </a:prstGeom>
          <a:solidFill>
            <a:srgbClr val="F4F8F8"/>
          </a:solidFill>
          <a:ln w="15875">
            <a:solidFill>
              <a:srgbClr val="0B5D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8105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governance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83680" y="217627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queues, admission gates, canary-verified autonomy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052560" y="221284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381744" y="1691640"/>
            <a:ext cx="2615184" cy="1481328"/>
          </a:xfrm>
          <a:prstGeom prst="rect">
            <a:avLst/>
          </a:prstGeom>
          <a:solidFill>
            <a:srgbClr val="F4F8F8"/>
          </a:solidFill>
          <a:ln w="15875">
            <a:solidFill>
              <a:srgbClr val="0B5D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28048" y="18105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fleet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528048" y="217627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· hippocampus · modality · SWE · voice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401568"/>
            <a:ext cx="11091672" cy="713232"/>
          </a:xfrm>
          <a:prstGeom prst="rect">
            <a:avLst/>
          </a:prstGeom>
          <a:solidFill>
            <a:srgbClr val="083F45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401568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 memory — 467K vectors </a:t>
            </a:r>
            <a:pPr indent="0" marL="0">
              <a:buNone/>
            </a:pPr>
            <a:r>
              <a:rPr lang="en-US" sz="1350" dirty="0">
                <a:solidFill>
                  <a:srgbClr val="C6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·      Langfuse traces      ·      Temporal workflows      ·      OpenTelemetry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8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Receipt-based honesty.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message, arrival, and crossing carries a verifiable receipt — fabrication is a protocol violation, not a bug.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389120" y="44348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8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Government, not vibes.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Steward relays all cross-agent traffic; privileged actions need accrued trust; sponsor approval gates the rest.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29600" y="44348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8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that persists.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Causal hippocampus records episodes; Qdrant recall brings them back in the next session.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263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as running today — v24.0.0, 44 containers live.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LAYER ON THE RUNTIME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as a Service.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D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mentors.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mentor remembers its students across sessions — vector recall of goals, progress, and history, not chat logs.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734056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D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sessions.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Goal-setting, homework, follow-up. Voice-ready: 170 ms turn-taking measured on a single-machine local speech bench.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3867912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D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by construction.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session closes with a receipt: what was covered, what was decided, what comes next.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5001768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D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business on the runtime.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Subscription mentors running on governed agent infrastructure — memory, governance and receipts included.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269480" y="1554480"/>
            <a:ext cx="4370832" cy="1965960"/>
          </a:xfrm>
          <a:prstGeom prst="rect">
            <a:avLst/>
          </a:prstGeom>
          <a:solidFill>
            <a:srgbClr val="E7F1F1"/>
          </a:solidFill>
          <a:ln w="15875">
            <a:solidFill>
              <a:srgbClr val="0B5D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1783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MENTORS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43800" y="2377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mentors — live in the fleet today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543800" y="2907792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29077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· GOVERNANCE · RECEIPTS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69480" y="3886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69480" y="4251960"/>
            <a:ext cx="2084832" cy="384048"/>
          </a:xfrm>
          <a:prstGeom prst="roundRect">
            <a:avLst>
              <a:gd name="adj" fmla="val 23810"/>
            </a:avLst>
          </a:prstGeom>
          <a:solidFill>
            <a:srgbClr val="F4F8F8"/>
          </a:solidFill>
          <a:ln w="12700">
            <a:solidFill>
              <a:srgbClr val="C9DA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425196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 &amp; body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555480" y="4251960"/>
            <a:ext cx="2084832" cy="384048"/>
          </a:xfrm>
          <a:prstGeom prst="roundRect">
            <a:avLst>
              <a:gd name="adj" fmla="val 23810"/>
            </a:avLst>
          </a:prstGeom>
          <a:solidFill>
            <a:srgbClr val="F4F8F8"/>
          </a:solidFill>
          <a:ln w="12700">
            <a:solidFill>
              <a:srgbClr val="C9DA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55480" y="425196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Aesthetics &amp; UX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269480" y="4782312"/>
            <a:ext cx="2084832" cy="384048"/>
          </a:xfrm>
          <a:prstGeom prst="roundRect">
            <a:avLst>
              <a:gd name="adj" fmla="val 23810"/>
            </a:avLst>
          </a:prstGeom>
          <a:solidFill>
            <a:srgbClr val="F4F8F8"/>
          </a:solidFill>
          <a:ln w="12700">
            <a:solidFill>
              <a:srgbClr val="C9DA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478231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555480" y="4782312"/>
            <a:ext cx="2084832" cy="384048"/>
          </a:xfrm>
          <a:prstGeom prst="roundRect">
            <a:avLst>
              <a:gd name="adj" fmla="val 23810"/>
            </a:avLst>
          </a:prstGeom>
          <a:solidFill>
            <a:srgbClr val="F4F8F8"/>
          </a:solidFill>
          <a:ln w="12700">
            <a:solidFill>
              <a:srgbClr val="C9DA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55480" y="478231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Storytelling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269480" y="5312664"/>
            <a:ext cx="2084832" cy="384048"/>
          </a:xfrm>
          <a:prstGeom prst="roundRect">
            <a:avLst>
              <a:gd name="adj" fmla="val 23810"/>
            </a:avLst>
          </a:prstGeom>
          <a:solidFill>
            <a:srgbClr val="F4F8F8"/>
          </a:solidFill>
          <a:ln w="12700">
            <a:solidFill>
              <a:srgbClr val="C9DA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531266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copilot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555480" y="5312664"/>
            <a:ext cx="2084832" cy="384048"/>
          </a:xfrm>
          <a:prstGeom prst="roundRect">
            <a:avLst>
              <a:gd name="adj" fmla="val 23810"/>
            </a:avLst>
          </a:prstGeom>
          <a:solidFill>
            <a:srgbClr val="F4F8F8"/>
          </a:solidFill>
          <a:ln w="12700">
            <a:solidFill>
              <a:srgbClr val="C9DA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55480" y="531266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269480" y="5943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mentor is a registered assistant in the live fleet — running today, not mocked up.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Dota 2 Copilot: realtime AI inside a live game.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D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Realtime, not chat.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Reads match state and advises while the game runs — decisions in seconds, on a ticking clock.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779776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D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runtime underneath.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Per-player match memory, governed tool use, traceable decisions — Colony in a hostile, realtime domain.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3913632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D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as a paid lane.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Premium tier over a dedicated MCP server — subscription architecture is live; billing is not yet switched on.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5047488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D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matters.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hardest domain the runtime has survived so far — realtime load, per-player memory, traceable decisions.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040880" y="1554480"/>
            <a:ext cx="4599432" cy="43434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A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THE FLEET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services, running now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0" y="2788920"/>
            <a:ext cx="4023360" cy="0"/>
          </a:xfrm>
          <a:prstGeom prst="line">
            <a:avLst/>
          </a:prstGeom>
          <a:noFill/>
          <a:ln w="12700">
            <a:solidFill>
              <a:srgbClr val="D5DE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8986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3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dota-copilot-portal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0" y="3246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+ control + backend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0" y="3840480"/>
            <a:ext cx="4023360" cy="0"/>
          </a:xfrm>
          <a:prstGeom prst="line">
            <a:avLst/>
          </a:prstGeom>
          <a:noFill/>
          <a:ln w="12700">
            <a:solidFill>
              <a:srgbClr val="D5DE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39502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3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dota-premium-mcp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0" y="4297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access over MCP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0" y="5257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names from live docker ps — 2026-10-21.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fleet is running right now.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15184" cy="0"/>
          </a:xfrm>
          <a:prstGeom prst="line">
            <a:avLst/>
          </a:prstGeom>
          <a:noFill/>
          <a:ln w="12700">
            <a:solidFill>
              <a:srgbClr val="D5DE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2615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 live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493008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ps, without stopping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3008" y="1828800"/>
            <a:ext cx="2615184" cy="0"/>
          </a:xfrm>
          <a:prstGeom prst="line">
            <a:avLst/>
          </a:prstGeom>
          <a:noFill/>
          <a:ln w="12700">
            <a:solidFill>
              <a:srgbClr val="D5DE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2011680"/>
            <a:ext cx="2615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B5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467K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3493008" y="315468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vectors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93008" y="3493008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 — plus 161K code chunks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37376" y="1828800"/>
            <a:ext cx="2615184" cy="0"/>
          </a:xfrm>
          <a:prstGeom prst="line">
            <a:avLst/>
          </a:prstGeom>
          <a:noFill/>
          <a:ln w="12700">
            <a:solidFill>
              <a:srgbClr val="D5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2011680"/>
            <a:ext cx="2615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B5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5800" dirty="0"/>
          </a:p>
        </p:txBody>
      </p:sp>
      <p:sp>
        <p:nvSpPr>
          <p:cNvPr id="14" name="Text 12"/>
          <p:cNvSpPr/>
          <p:nvPr/>
        </p:nvSpPr>
        <p:spPr>
          <a:xfrm>
            <a:off x="6437376" y="315468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assistants ready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37376" y="3493008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lawful, kernel-ready, observable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81744" y="1828800"/>
            <a:ext cx="2615184" cy="0"/>
          </a:xfrm>
          <a:prstGeom prst="line">
            <a:avLst/>
          </a:prstGeom>
          <a:noFill/>
          <a:ln w="12700">
            <a:solidFill>
              <a:srgbClr val="D5DE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81744" y="2011680"/>
            <a:ext cx="2615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go-mentor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381744" y="315468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mentor, live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381744" y="3493008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go-mentor.mind.glass — goals → verified outcomes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343400"/>
            <a:ext cx="12188952" cy="1417320"/>
          </a:xfrm>
          <a:prstGeom prst="rect">
            <a:avLst/>
          </a:prstGeom>
          <a:solidFill>
            <a:srgbClr val="E7F1F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526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on duty   </a:t>
            </a:r>
            <a:pPr indent="0" marL="0">
              <a:buNone/>
            </a:pPr>
            <a:r>
              <a:rPr lang="en-US" sz="1300" dirty="0">
                <a:solidFill>
                  <a:srgbClr val="17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(arc · swe · colony · biology) · hippocampus · modality (vision · audio · motor · text) · research · court · admission · SWE · voice · metabolic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51663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  </a:t>
            </a:r>
            <a:pPr indent="0" marL="0">
              <a:buNone/>
            </a:pPr>
            <a:r>
              <a:rPr lang="en-US" sz="1300" dirty="0">
                <a:solidFill>
                  <a:srgbClr val="17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Langfuse traces · Temporal workflows · OpenTelemetry · Centrifugo realtime · local MLX model gateway · LLM-as-judge evals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172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live docker ps and readiness checks on the founder's machine, 2026-10-21. Numbers are observed, not aspirational.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· ARTIFACTS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Receipts you can open.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73352"/>
            <a:ext cx="11091672" cy="0"/>
          </a:xfrm>
          <a:prstGeom prst="line">
            <a:avLst/>
          </a:prstGeom>
          <a:noFill/>
          <a:ln w="12700">
            <a:solidFill>
              <a:srgbClr val="D5DE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3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 3bff070c…9390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023360" y="17830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assistant turn (2026-10-22): craft review delivered, LLM-judge verdict recorded — queryable via job-status.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11091672" cy="0"/>
          </a:xfrm>
          <a:prstGeom prst="line">
            <a:avLst/>
          </a:prstGeom>
          <a:noFill/>
          <a:ln w="12700">
            <a:solidFill>
              <a:srgbClr val="D5DE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3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023360" y="26517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containers up incl. dota-copilot-portal, dota-premium-mcp, knowledge / hippocampus / modality workers — 2026-10-21.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10712"/>
            <a:ext cx="11091672" cy="0"/>
          </a:xfrm>
          <a:prstGeom prst="line">
            <a:avLst/>
          </a:prstGeom>
          <a:noFill/>
          <a:ln w="12700">
            <a:solidFill>
              <a:srgbClr val="D5DE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3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go-mentor.mind.glass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023360" y="35204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coding mentor running on the runtime: student goals → verified outcomes, not a mockup.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279392"/>
            <a:ext cx="11091672" cy="0"/>
          </a:xfrm>
          <a:prstGeom prst="line">
            <a:avLst/>
          </a:prstGeom>
          <a:noFill/>
          <a:ln w="12700">
            <a:solidFill>
              <a:srgbClr val="D5DE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89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3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deck.mind.glass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023360" y="43891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deployed as a live artifact; source PDF in github.com/tdesc/colony-ai-deck.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48072"/>
            <a:ext cx="11091672" cy="0"/>
          </a:xfrm>
          <a:prstGeom prst="line">
            <a:avLst/>
          </a:prstGeom>
          <a:noFill/>
          <a:ln w="12700">
            <a:solidFill>
              <a:srgbClr val="D5DE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257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3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Langfuse + Qdrant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023360" y="52578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467K vectors, 161K code chunks, per-session traces — on the founder's box; walkthrough on request.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artifact is checkable today — ask for a live walkthrough in the call.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 · CLOUD CREDITS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≈$50K in credits. 12 months. One beachhead.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6126480" cy="0"/>
          </a:xfrm>
          <a:prstGeom prst="line">
            <a:avLst/>
          </a:prstGeom>
          <a:noFill/>
          <a:ln w="12700">
            <a:solidFill>
              <a:srgbClr val="D5DE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5564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memory &amp; traces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48640" y="2121408"/>
            <a:ext cx="594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 and ClickHouse in the cloud — vector memory and Langfuse traces that outlive any single machine.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6126480" cy="0"/>
          </a:xfrm>
          <a:prstGeom prst="line">
            <a:avLst/>
          </a:prstGeom>
          <a:noFill/>
          <a:ln w="12700">
            <a:solidFill>
              <a:srgbClr val="D5DE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7121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nodes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48640" y="3236976"/>
            <a:ext cx="594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mentors and model work beyond the local MLX bench — realtime speech needs real GPUs.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58768"/>
            <a:ext cx="6126480" cy="0"/>
          </a:xfrm>
          <a:prstGeom prst="line">
            <a:avLst/>
          </a:prstGeom>
          <a:noFill/>
          <a:ln w="12700">
            <a:solidFill>
              <a:srgbClr val="D5DE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98678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Mentor API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48640" y="4352544"/>
            <a:ext cx="594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Mentor as a Service multi-tenant: pilot customers, billing, SLAs. The monetizing step.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974336"/>
            <a:ext cx="6126480" cy="0"/>
          </a:xfrm>
          <a:prstGeom prst="line">
            <a:avLst/>
          </a:prstGeom>
          <a:noFill/>
          <a:ln w="12700">
            <a:solidFill>
              <a:srgbClr val="D5DE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10235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Always-on fleet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48640" y="5468112"/>
            <a:ext cx="594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Multi-region Temporal and 24/7 uptime — live mentor sessions that never sleep.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1627632"/>
            <a:ext cx="4690872" cy="429768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A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1828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MILESTONES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23760" y="2240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18120" y="22402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memory &amp; traces — managed Qdrant + ClickHouse, zero-loss migration.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23760" y="29900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818120" y="299008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voice mentor pilot — 10 students, measured cloud latency.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23760" y="37398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818120" y="373989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Mentor API beta — first external students onboarded.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23760" y="4526280"/>
            <a:ext cx="4160520" cy="0"/>
          </a:xfrm>
          <a:prstGeom prst="line">
            <a:avLst/>
          </a:prstGeom>
          <a:noFill/>
          <a:ln w="12700">
            <a:solidFill>
              <a:srgbClr val="D5DE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4663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 · TARGETS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23760" y="498348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pilot students · first paid session · 99.5% uptime · recall latency p95 &lt; 300 ms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Beachhead: mentors for students and small teams. Credits go to infrastructure, not headcount.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working prototype to hosted runtime.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3063240"/>
            <a:ext cx="10332720" cy="0"/>
          </a:xfrm>
          <a:prstGeom prst="line">
            <a:avLst/>
          </a:prstGeom>
          <a:noFill/>
          <a:ln w="25400">
            <a:solidFill>
              <a:srgbClr val="C9DA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944368"/>
            <a:ext cx="237744" cy="23774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Self-funded working prototype — 44-container fleet, memory, receipts, Society Protocol.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0" y="2944368"/>
            <a:ext cx="237744" cy="237744"/>
          </a:xfrm>
          <a:prstGeom prst="ellipse">
            <a:avLst/>
          </a:prstGeom>
          <a:solidFill>
            <a:srgbClr val="0B5D66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8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 MO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03320" y="338328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as a Service pilot — public API, first external students, paid sessions.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46520" y="2944368"/>
            <a:ext cx="237744" cy="237744"/>
          </a:xfrm>
          <a:prstGeom prst="ellipse">
            <a:avLst/>
          </a:prstGeom>
          <a:solidFill>
            <a:srgbClr val="0B5D66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8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 MO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338328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fleet — managed memory &amp; traces, GPU voice mentors, 24/7 uptime.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235440" y="2944368"/>
            <a:ext cx="237744" cy="237744"/>
          </a:xfrm>
          <a:prstGeom prst="ellipse">
            <a:avLst/>
          </a:prstGeom>
          <a:solidFill>
            <a:srgbClr val="0B5D66"/>
          </a:solidFill>
          <a:ln/>
        </p:spPr>
      </p:sp>
      <p:sp>
        <p:nvSpPr>
          <p:cNvPr id="15" name="Text 13"/>
          <p:cNvSpPr/>
          <p:nvPr/>
        </p:nvSpPr>
        <p:spPr>
          <a:xfrm>
            <a:off x="928116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8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 MO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81160" y="338328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copilots beyond gaming — agents you can audit, as a category.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0" y="5257800"/>
            <a:ext cx="12188952" cy="914400"/>
          </a:xfrm>
          <a:prstGeom prst="rect">
            <a:avLst/>
          </a:prstGeom>
          <a:solidFill>
            <a:srgbClr val="E7F1F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2578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baseline: </a:t>
            </a:r>
            <a:pPr indent="0" marL="0">
              <a:buNone/>
            </a:pPr>
            <a:r>
              <a:rPr lang="en-US" sz="1400" dirty="0">
                <a:solidFill>
                  <a:srgbClr val="17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users and no revenue yet. This deck sells a working prototype with live infrastructure — the roadmap is a plan, not a projection.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5120640"/>
            <a:ext cx="1083323" cy="503049"/>
          </a:xfrm>
          <a:prstGeom prst="line">
            <a:avLst/>
          </a:prstGeom>
          <a:noFill/>
          <a:ln w="12700">
            <a:solidFill>
              <a:srgbClr val="2741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5120640"/>
            <a:ext cx="29129" cy="1048982"/>
          </a:xfrm>
          <a:prstGeom prst="line">
            <a:avLst/>
          </a:prstGeom>
          <a:noFill/>
          <a:ln w="12700">
            <a:solidFill>
              <a:srgbClr val="2741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2720" y="5120640"/>
            <a:ext cx="-1054194" cy="545933"/>
          </a:xfrm>
          <a:prstGeom prst="line">
            <a:avLst/>
          </a:prstGeom>
          <a:noFill/>
          <a:ln w="12700">
            <a:solidFill>
              <a:srgbClr val="2741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0" y="5120640"/>
            <a:ext cx="-1083323" cy="-503049"/>
          </a:xfrm>
          <a:prstGeom prst="line">
            <a:avLst/>
          </a:prstGeom>
          <a:noFill/>
          <a:ln w="12700">
            <a:solidFill>
              <a:srgbClr val="2741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0" y="5120640"/>
            <a:ext cx="-29129" cy="-1048982"/>
          </a:xfrm>
          <a:prstGeom prst="line">
            <a:avLst/>
          </a:prstGeom>
          <a:noFill/>
          <a:ln w="12700">
            <a:solidFill>
              <a:srgbClr val="2741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0" y="5120640"/>
            <a:ext cx="1054194" cy="-545933"/>
          </a:xfrm>
          <a:prstGeom prst="line">
            <a:avLst/>
          </a:prstGeom>
          <a:noFill/>
          <a:ln w="12700">
            <a:solidFill>
              <a:srgbClr val="2741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47463" y="5555109"/>
            <a:ext cx="137160" cy="137160"/>
          </a:xfrm>
          <a:prstGeom prst="ellipse">
            <a:avLst/>
          </a:prstGeom>
          <a:solidFill>
            <a:srgbClr val="7FC4C9"/>
          </a:solidFill>
          <a:ln/>
        </p:spPr>
      </p:sp>
      <p:sp>
        <p:nvSpPr>
          <p:cNvPr id="9" name="Shape 7"/>
          <p:cNvSpPr/>
          <p:nvPr/>
        </p:nvSpPr>
        <p:spPr>
          <a:xfrm>
            <a:off x="10311557" y="6119330"/>
            <a:ext cx="100584" cy="100584"/>
          </a:xfrm>
          <a:prstGeom prst="ellipse">
            <a:avLst/>
          </a:prstGeom>
          <a:solidFill>
            <a:srgbClr val="7FC4C9"/>
          </a:solidFill>
          <a:ln/>
        </p:spPr>
      </p:sp>
      <p:sp>
        <p:nvSpPr>
          <p:cNvPr id="10" name="Shape 8"/>
          <p:cNvSpPr/>
          <p:nvPr/>
        </p:nvSpPr>
        <p:spPr>
          <a:xfrm>
            <a:off x="9209946" y="5597993"/>
            <a:ext cx="137160" cy="1371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Shape 9"/>
          <p:cNvSpPr/>
          <p:nvPr/>
        </p:nvSpPr>
        <p:spPr>
          <a:xfrm>
            <a:off x="9199105" y="4567299"/>
            <a:ext cx="100584" cy="100584"/>
          </a:xfrm>
          <a:prstGeom prst="ellipse">
            <a:avLst/>
          </a:prstGeom>
          <a:solidFill>
            <a:srgbClr val="7FC4C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35011" y="4003078"/>
            <a:ext cx="137160" cy="137160"/>
          </a:xfrm>
          <a:prstGeom prst="ellipse">
            <a:avLst/>
          </a:prstGeom>
          <a:solidFill>
            <a:srgbClr val="7FC4C9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36622" y="4524415"/>
            <a:ext cx="100584" cy="100584"/>
          </a:xfrm>
          <a:prstGeom prst="ellipse">
            <a:avLst/>
          </a:prstGeom>
          <a:solidFill>
            <a:srgbClr val="7FC4C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22992" y="5010912"/>
            <a:ext cx="219456" cy="21945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822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CONTACT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13716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Valentin Kalinin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40080" y="23317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6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— built the whole stack solo: cognition runtime, Society Protocol, mentor fleet, Dota 2 Copilot.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3429000"/>
            <a:ext cx="7863840" cy="0"/>
          </a:xfrm>
          <a:prstGeom prst="line">
            <a:avLst/>
          </a:prstGeom>
          <a:noFill/>
          <a:ln w="12700">
            <a:solidFill>
              <a:srgbClr val="2741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valentin@mind.glass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0080" y="42245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6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github.com/tdesc/colony-ai-deck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479145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6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mind.glass  ·  Saint Petersburg, Russia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" y="5806440"/>
            <a:ext cx="5852160" cy="329184"/>
          </a:xfrm>
          <a:prstGeom prst="roundRect">
            <a:avLst>
              <a:gd name="adj" fmla="val 50000"/>
            </a:avLst>
          </a:prstGeom>
          <a:solidFill>
            <a:srgbClr val="0D1B24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80644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· SELF-FUNDED WORKING PROTOTYPE · OCT 2026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Colony AI — Mentor as a Service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Colony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Colony AI — Multi-Agent Cognition Runtime</dc:title>
  <dc:subject>PptxGenJS Presentation</dc:subject>
  <dc:creator>Valentin Kalinin</dc:creator>
  <cp:lastModifiedBy>Valentin Kalinin</cp:lastModifiedBy>
  <cp:revision>1</cp:revision>
  <dcterms:created xsi:type="dcterms:W3CDTF">2026-10-22T19:59:06Z</dcterms:created>
  <dcterms:modified xsi:type="dcterms:W3CDTF">2026-10-22T19:59:06Z</dcterms:modified>
</cp:coreProperties>
</file>